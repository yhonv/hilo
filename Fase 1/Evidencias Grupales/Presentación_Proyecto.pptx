
<file path=[Content_Types].xml><?xml version="1.0" encoding="utf-8"?>
<Types xmlns="http://schemas.openxmlformats.org/package/2006/content-types">
  <Default Extension="jpe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</p:sldMasterIdLst>
  <p:notesMasterIdLst>
    <p:notesMasterId r:id="rId13"/>
  </p:notes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7" r:id="rId9"/>
    <p:sldId id="264" r:id="rId10"/>
    <p:sldId id="268" r:id="rId11"/>
    <p:sldId id="266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89A"/>
    <a:srgbClr val="00500A"/>
    <a:srgbClr val="FEFFF0"/>
    <a:srgbClr val="FFFAE7"/>
    <a:srgbClr val="FDF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72"/>
  </p:normalViewPr>
  <p:slideViewPr>
    <p:cSldViewPr snapToGrid="0">
      <p:cViewPr varScale="1">
        <p:scale>
          <a:sx n="105" d="100"/>
          <a:sy n="105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Porcentaje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Hoja1!$A$2:$A$11</c:f>
              <c:strCache>
                <c:ptCount val="10"/>
                <c:pt idx="0">
                  <c:v>Biblioteca por estado</c:v>
                </c:pt>
                <c:pt idx="1">
                  <c:v>Descubrir nuevos libros</c:v>
                </c:pt>
                <c:pt idx="2">
                  <c:v>Guardar citas</c:v>
                </c:pt>
                <c:pt idx="3">
                  <c:v>Porcentaje de avance</c:v>
                </c:pt>
                <c:pt idx="4">
                  <c:v>Calendario de lectura</c:v>
                </c:pt>
                <c:pt idx="5">
                  <c:v>Estadística de lectura</c:v>
                </c:pt>
                <c:pt idx="6">
                  <c:v>Recordatorios</c:v>
                </c:pt>
                <c:pt idx="7">
                  <c:v>Registrar página actual</c:v>
                </c:pt>
                <c:pt idx="8">
                  <c:v>OCR de citas</c:v>
                </c:pt>
                <c:pt idx="9">
                  <c:v>Compartir citas</c:v>
                </c:pt>
              </c:strCache>
            </c:strRef>
          </c:cat>
          <c:val>
            <c:numRef>
              <c:f>Hoja1!$B$2:$B$11</c:f>
              <c:numCache>
                <c:formatCode>General</c:formatCode>
                <c:ptCount val="10"/>
                <c:pt idx="0">
                  <c:v>68.400000000000006</c:v>
                </c:pt>
                <c:pt idx="1">
                  <c:v>63.2</c:v>
                </c:pt>
                <c:pt idx="2">
                  <c:v>54.4</c:v>
                </c:pt>
                <c:pt idx="3">
                  <c:v>52.6</c:v>
                </c:pt>
                <c:pt idx="4">
                  <c:v>47.4</c:v>
                </c:pt>
                <c:pt idx="5">
                  <c:v>45.6</c:v>
                </c:pt>
                <c:pt idx="6">
                  <c:v>42.1</c:v>
                </c:pt>
                <c:pt idx="7">
                  <c:v>40.4</c:v>
                </c:pt>
                <c:pt idx="8">
                  <c:v>35.1</c:v>
                </c:pt>
                <c:pt idx="9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D-5547-8F1C-3F2F9EB3D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33392191"/>
        <c:axId val="2033393983"/>
      </c:barChart>
      <c:catAx>
        <c:axId val="20333921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2033393983"/>
        <c:crosses val="autoZero"/>
        <c:auto val="1"/>
        <c:lblAlgn val="ctr"/>
        <c:lblOffset val="100"/>
        <c:noMultiLvlLbl val="0"/>
      </c:catAx>
      <c:valAx>
        <c:axId val="2033393983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20333921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3C4CDF-ADB4-BE48-9E0E-63580F0452A0}" type="datetimeFigureOut">
              <a:t>29-08-2026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1779A-D696-E942-8116-E721A10B30BA}" type="slidenum"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7534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D43C1-1FAA-172D-845E-528D6C2F4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8519E-98DC-5FCA-FEA7-0C46088FE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2370C-E666-BD25-B692-070329F7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2CC5C-80F1-3296-0BAB-D0C785963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DBFA5-EB9C-419B-F137-8A40607D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0356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B84FE-9156-7592-6C1F-B7897E57D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7448E0-0F9C-66C9-CCDB-816D37F6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A096C-4275-9B87-BDEF-A74E36134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9A781D-87FF-E9CA-944C-E589C686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F4EBE8-E635-EA9C-BD93-8EA563C3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59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37F7A-0BB0-611D-2795-15219D90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65A6DC-58D7-573F-FFF8-0986AC71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1944D7-8010-8E39-66C8-F25E4381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35D4DA-C1E6-A354-3F1B-3E4A0E13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96FD70-3AB1-5C4D-DD32-81E2F836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413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D6AD7-97C2-8623-2E13-A338AA29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35A9D3-1ABE-1D69-9EA1-302902D6C0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919BB7-64F8-1ADA-B6B3-DE6ECFD45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7DE659-C787-D229-A9B3-391188FD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E2DCBB-B69C-49DE-0EC7-5577E56B8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9D5DF8-F41B-6D6C-EBE3-E0613172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25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24460-AA0F-255D-F27A-09495781B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4213EE-3EEA-4193-327A-49C8FA7AA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2044DE-F249-93F3-2409-E4AACF457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31BDFF-795E-7F2A-A35D-983731821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871B1DA-A09E-4B96-C9DA-66F1C5301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8D6681-E09A-FDC1-51E7-7F49CEC3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A0B681-5146-5DAA-7885-90CFC572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29A53E-1CFE-8E80-0936-63BD35D4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701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B0245B-5F63-6F0A-84A6-5371B1E3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8A4EF7-B0EE-A04C-4006-FFF9A772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F3E6285-3A6B-5F0E-1E87-A79A524E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C0CE6F-F019-8114-76E0-D233CDE4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72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6DC57C-EADC-FAC4-23F5-1198E599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EF77F8-262A-4339-A400-A00E1DBB7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CAB17F-4788-ECE2-E6BC-229060C9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743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356FB-3464-D692-24E5-1329F4C26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4C055-8B74-F6A0-5320-6D0D33FD4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DAC044-B8A1-0C9E-636A-8BECF82FC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E0DF1B-8E90-06DD-E27E-2D163F9D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B673B6-2980-F486-EF88-7877B1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CE8640-6D45-E07A-369C-EF728806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27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6D41D0-B653-9DEB-E346-85CFA9B6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00874C-E71B-EC50-14B9-16519727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6B4ED2-8FE2-AE1D-9401-A65C3E23C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D785B5-0796-81A1-7A19-71DED7D2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57231-EF40-8E15-3454-41FD9ECA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64E984-DC37-4DE5-E878-A52E4A75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2750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7C0C5-39FC-9E0D-768F-D6D4FA2C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8E69C2-DCA9-E1D7-C729-6B891651B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EFFB7C-F80A-91A3-AF90-0A245005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608E3B-05F3-0815-F910-C914743E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F19BD-C53C-26C2-0E22-8975C83E7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151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E9CFC9-CD17-6727-F85A-FA57C5D6F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4CC829-D142-E102-A4C1-27F0EFFBD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67FED-BECF-3CF2-B8F2-90DBBAAF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84DA60-F0B2-330B-666E-BCADB4AE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51966-0D43-F59A-5FBE-88DA6470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254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EFF640A-43E9-B86B-3D2F-B36A9639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292338-E1B7-1201-E6BC-D46B1EA67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9F1D34-B30B-C1CD-94A4-209FF8742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0B48F-9A95-234B-90AB-C71126C4185E}" type="datetimeFigureOut">
              <a:rPr lang="es-CL" smtClean="0"/>
              <a:t>29-08-2026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CC3481-5113-4BF2-F5AF-276F036DE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733D2F-101F-22E7-AD9C-760A9A1A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6DB13-4C8D-E64F-B3E5-E995685FD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60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org&amp;utm_campaign=index&amp;utm_content=origina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21A97-7281-9BCB-512F-E49A07C67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946" y="891043"/>
            <a:ext cx="2208949" cy="972239"/>
          </a:xfrm>
        </p:spPr>
        <p:txBody>
          <a:bodyPr>
            <a:noAutofit/>
          </a:bodyPr>
          <a:lstStyle/>
          <a:p>
            <a:r>
              <a:rPr lang="es-CL" sz="66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Hilo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F10D73-74A5-5C7F-3816-CB6554F8D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2060375"/>
            <a:ext cx="6446522" cy="457201"/>
          </a:xfrm>
        </p:spPr>
        <p:txBody>
          <a:bodyPr>
            <a:normAutofit/>
          </a:bodyPr>
          <a:lstStyle/>
          <a:p>
            <a:pPr algn="l"/>
            <a:r>
              <a:rPr lang="es-CL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Aplicación móvil de seguimiento de lectura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17186A-F337-6F2D-E9F3-102E3FACB813}"/>
              </a:ext>
            </a:extLst>
          </p:cNvPr>
          <p:cNvSpPr/>
          <p:nvPr/>
        </p:nvSpPr>
        <p:spPr>
          <a:xfrm>
            <a:off x="495299" y="2575023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A45E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Definición</a:t>
            </a:r>
            <a:r>
              <a:rPr lang="en-US" sz="1600" b="1" dirty="0">
                <a:solidFill>
                  <a:srgbClr val="A45E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del Proyecto APT · Fase 1</a:t>
            </a: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A8B2E1-9B77-1FA7-D067-CBAA05930E14}"/>
              </a:ext>
            </a:extLst>
          </p:cNvPr>
          <p:cNvSpPr/>
          <p:nvPr/>
        </p:nvSpPr>
        <p:spPr>
          <a:xfrm>
            <a:off x="495300" y="4777231"/>
            <a:ext cx="2743200" cy="10641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Integrantes</a:t>
            </a:r>
            <a:r>
              <a:rPr lang="en-US" sz="1400" b="1" dirty="0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Dayana Hoyos Riascos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Yhonneider</a:t>
            </a:r>
            <a:r>
              <a:rPr lang="en-US" sz="1400" dirty="0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Vivas Molina</a:t>
            </a:r>
          </a:p>
          <a:p>
            <a:pPr marL="0" indent="0">
              <a:buNone/>
            </a:pPr>
            <a:endParaRPr lang="en-US" sz="1400" dirty="0">
              <a:solidFill>
                <a:srgbClr val="17394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 err="1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Profesor</a:t>
            </a:r>
            <a:r>
              <a:rPr lang="en-US" sz="1400" b="1" dirty="0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7394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Jorge Guzmán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F7393BE1-3DA5-C93C-56F0-16AEB9476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6213" y="325759"/>
            <a:ext cx="1677839" cy="375602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3045B552-88BD-B04E-46D2-8016C1F71924}"/>
              </a:ext>
            </a:extLst>
          </p:cNvPr>
          <p:cNvSpPr/>
          <p:nvPr/>
        </p:nvSpPr>
        <p:spPr>
          <a:xfrm flipV="1">
            <a:off x="495299" y="1773936"/>
            <a:ext cx="11308753" cy="89346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>
              <a:highlight>
                <a:srgbClr val="FF0000"/>
              </a:highlight>
            </a:endParaRPr>
          </a:p>
        </p:txBody>
      </p:sp>
      <p:pic>
        <p:nvPicPr>
          <p:cNvPr id="11" name="Image 1" descr="/mnt/data/hilo_pptx_unzipped/ppt/media/image5.png">
            <a:extLst>
              <a:ext uri="{FF2B5EF4-FFF2-40B4-BE49-F238E27FC236}">
                <a16:creationId xmlns:a16="http://schemas.microsoft.com/office/drawing/2014/main" id="{4080E097-C06C-C1DB-C7C3-8DABC101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139" y="2149329"/>
            <a:ext cx="5471561" cy="4103671"/>
          </a:xfrm>
          <a:prstGeom prst="rect">
            <a:avLst/>
          </a:prstGeom>
          <a:effectLst>
            <a:softEdge rad="133672"/>
          </a:effectLst>
        </p:spPr>
      </p:pic>
    </p:spTree>
    <p:extLst>
      <p:ext uri="{BB962C8B-B14F-4D97-AF65-F5344CB8AC3E}">
        <p14:creationId xmlns:p14="http://schemas.microsoft.com/office/powerpoint/2010/main" val="136547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58DAC-69CF-92EA-17B8-2221CB75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B5B72C96-0ECD-F821-FDEA-9A07C422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205ECF81-D9BF-6718-40A5-9EAEF7946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2" y="335509"/>
            <a:ext cx="3723641" cy="650557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Problema </a:t>
            </a:r>
            <a:r>
              <a:rPr lang="en-US" sz="3000" b="1" dirty="0" err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detectado</a:t>
            </a:r>
            <a:endParaRPr lang="es-CL" sz="3000" b="1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8FA40D5E-B0F7-53F8-0514-6D295D8B2569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ubtítulo 10">
            <a:extLst>
              <a:ext uri="{FF2B5EF4-FFF2-40B4-BE49-F238E27FC236}">
                <a16:creationId xmlns:a16="http://schemas.microsoft.com/office/drawing/2014/main" id="{384B458E-4992-BE61-A951-9A0D7982BDC9}"/>
              </a:ext>
            </a:extLst>
          </p:cNvPr>
          <p:cNvSpPr txBox="1">
            <a:spLocks/>
          </p:cNvSpPr>
          <p:nvPr/>
        </p:nvSpPr>
        <p:spPr>
          <a:xfrm>
            <a:off x="8859905" y="6188121"/>
            <a:ext cx="3059300" cy="334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CL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Encuesta de validación – Google Form </a:t>
            </a:r>
          </a:p>
        </p:txBody>
      </p:sp>
      <p:pic>
        <p:nvPicPr>
          <p:cNvPr id="19" name="Imagen 18" descr="Gráfico de respuestas de formularios. Título de la pregunta: Cuando estás leyendo un libro, ¿registras tu progreso?&#10;&#10;. Número de respuestas: 57 respuestas.">
            <a:extLst>
              <a:ext uri="{FF2B5EF4-FFF2-40B4-BE49-F238E27FC236}">
                <a16:creationId xmlns:a16="http://schemas.microsoft.com/office/drawing/2014/main" id="{E993A28E-FF45-C44A-B7DB-107F66C9A3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" r="18378"/>
          <a:stretch>
            <a:fillRect/>
          </a:stretch>
        </p:blipFill>
        <p:spPr>
          <a:xfrm>
            <a:off x="411480" y="2507700"/>
            <a:ext cx="5216869" cy="2736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n 12" descr="Gráfico de respuestas de formularios. Título de la pregunta: ¿Cómo llevas actualmente el registro de los libros que lees?&#10;&#10;. Número de respuestas: 57 respuestas.">
            <a:extLst>
              <a:ext uri="{FF2B5EF4-FFF2-40B4-BE49-F238E27FC236}">
                <a16:creationId xmlns:a16="http://schemas.microsoft.com/office/drawing/2014/main" id="{59D417A1-C770-201C-9430-789EDB6B3D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3" r="13942"/>
          <a:stretch>
            <a:fillRect/>
          </a:stretch>
        </p:blipFill>
        <p:spPr>
          <a:xfrm>
            <a:off x="5788152" y="2506335"/>
            <a:ext cx="5637276" cy="2736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Shape 5">
            <a:extLst>
              <a:ext uri="{FF2B5EF4-FFF2-40B4-BE49-F238E27FC236}">
                <a16:creationId xmlns:a16="http://schemas.microsoft.com/office/drawing/2014/main" id="{6F46FC57-CA05-E159-95A1-88E47EB579EF}"/>
              </a:ext>
            </a:extLst>
          </p:cNvPr>
          <p:cNvSpPr/>
          <p:nvPr/>
        </p:nvSpPr>
        <p:spPr>
          <a:xfrm>
            <a:off x="443484" y="1249304"/>
            <a:ext cx="10981944" cy="1016609"/>
          </a:xfrm>
          <a:prstGeom prst="roundRect">
            <a:avLst>
              <a:gd name="adj" fmla="val 1212"/>
            </a:avLst>
          </a:prstGeom>
          <a:solidFill>
            <a:srgbClr val="F3F1EC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s-CL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Los lectores al momento de registrar sus actividades lo hacen a través de diversas aplicaciones y algunos otros no registran sus hábitos de lectura.</a:t>
            </a:r>
          </a:p>
          <a:p>
            <a:endParaRPr lang="es-CL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8F3DFB-BE64-EF45-A93A-23B5DD60E414}"/>
              </a:ext>
            </a:extLst>
          </p:cNvPr>
          <p:cNvSpPr txBox="1"/>
          <p:nvPr/>
        </p:nvSpPr>
        <p:spPr>
          <a:xfrm>
            <a:off x="5719573" y="5369474"/>
            <a:ext cx="57058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Quienes sí registran están </a:t>
            </a:r>
            <a:r>
              <a:rPr lang="es-CL" sz="1400" b="1" dirty="0">
                <a:latin typeface="Cambria" panose="02040503050406030204" pitchFamily="18" charset="0"/>
                <a:ea typeface="Cambria" panose="02040503050406030204" pitchFamily="18" charset="0"/>
              </a:rPr>
              <a:t>totalmente fragmentados en herramientas, </a:t>
            </a:r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lo que demuestra la ausencia de una solución especializada que los centralice.</a:t>
            </a:r>
            <a:endParaRPr lang="es-CL" sz="1400" b="1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0B2F2F1-C727-31BF-2778-050CF5E2AAAB}"/>
              </a:ext>
            </a:extLst>
          </p:cNvPr>
          <p:cNvSpPr txBox="1"/>
          <p:nvPr/>
        </p:nvSpPr>
        <p:spPr>
          <a:xfrm>
            <a:off x="411480" y="5369474"/>
            <a:ext cx="52168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El </a:t>
            </a:r>
            <a:r>
              <a:rPr lang="es-CL" sz="1400" b="1" dirty="0">
                <a:latin typeface="Cambria" panose="02040503050406030204" pitchFamily="18" charset="0"/>
                <a:ea typeface="Cambria" panose="02040503050406030204" pitchFamily="18" charset="0"/>
              </a:rPr>
              <a:t>59,6% de los lectores no registra su progreso de lectura</a:t>
            </a:r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, lo que evidencia una falta de herramientas que motiven y faciliten la creación de este hábito.</a:t>
            </a:r>
          </a:p>
        </p:txBody>
      </p:sp>
    </p:spTree>
    <p:extLst>
      <p:ext uri="{BB962C8B-B14F-4D97-AF65-F5344CB8AC3E}">
        <p14:creationId xmlns:p14="http://schemas.microsoft.com/office/powerpoint/2010/main" val="4209521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F8B9-2E00-4336-C2EE-27C08DA26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D349A080-F886-67ED-E0F3-E7786CF89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04AE73D4-3D7A-8862-C1DE-A1E580CC1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2" y="335509"/>
            <a:ext cx="4300036" cy="650557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 err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Solución</a:t>
            </a:r>
            <a:r>
              <a:rPr lang="en-US" sz="3000" b="1" dirty="0">
                <a:solidFill>
                  <a:schemeClr val="tx2"/>
                </a:solidFill>
                <a:latin typeface="Calibri" panose="020F0502020204030204" pitchFamily="34" charset="0"/>
                <a:ea typeface="Aptos Display" pitchFamily="34" charset="-122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propuesta</a:t>
            </a:r>
            <a:endParaRPr lang="es-CL" sz="3000" b="1" dirty="0">
              <a:solidFill>
                <a:schemeClr val="tx2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27A536F-4C4C-C8D6-6DD6-BDD6EAD6C0B4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16263D76-DD54-5701-620B-EC6DC387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177" y="1847241"/>
            <a:ext cx="8925535" cy="45842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878A0500-05B1-742F-B487-83927C8B5097}"/>
              </a:ext>
            </a:extLst>
          </p:cNvPr>
          <p:cNvSpPr/>
          <p:nvPr/>
        </p:nvSpPr>
        <p:spPr>
          <a:xfrm>
            <a:off x="411480" y="1071541"/>
            <a:ext cx="11109960" cy="638386"/>
          </a:xfrm>
          <a:prstGeom prst="roundRect">
            <a:avLst>
              <a:gd name="adj" fmla="val 1212"/>
            </a:avLst>
          </a:prstGeom>
          <a:solidFill>
            <a:srgbClr val="F3F1EC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Hilo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ayuda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 registrar,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visualizar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almacenar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citas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compartir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y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descubrir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nuevos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libros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s-CL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sin dispersar el registro en varias herramientas.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4077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D397A-2E84-91D9-AA15-DA550BC0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E14A3626-9034-9297-BCFE-AACCF0C3D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605D850D-389C-FE13-F2A0-52FCAABC3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1" y="335509"/>
            <a:ext cx="6939225" cy="650557"/>
          </a:xfrm>
        </p:spPr>
        <p:txBody>
          <a:bodyPr>
            <a:noAutofit/>
          </a:bodyPr>
          <a:lstStyle/>
          <a:p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Validación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de idea y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hábitos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de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lectura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F8C6D54E-8E9C-262C-EC6C-595BE359C4B5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E72A753-280B-44F5-4C95-958CAE58E150}"/>
              </a:ext>
            </a:extLst>
          </p:cNvPr>
          <p:cNvGrpSpPr/>
          <p:nvPr/>
        </p:nvGrpSpPr>
        <p:grpSpPr>
          <a:xfrm>
            <a:off x="2033299" y="1926593"/>
            <a:ext cx="2423160" cy="1417320"/>
            <a:chOff x="685800" y="1874520"/>
            <a:chExt cx="2423160" cy="1417320"/>
          </a:xfrm>
        </p:grpSpPr>
        <p:sp>
          <p:nvSpPr>
            <p:cNvPr id="6" name="Shape 6">
              <a:extLst>
                <a:ext uri="{FF2B5EF4-FFF2-40B4-BE49-F238E27FC236}">
                  <a16:creationId xmlns:a16="http://schemas.microsoft.com/office/drawing/2014/main" id="{B1B1A385-B11C-4305-C562-A8737ECEAD51}"/>
                </a:ext>
              </a:extLst>
            </p:cNvPr>
            <p:cNvSpPr/>
            <p:nvPr/>
          </p:nvSpPr>
          <p:spPr>
            <a:xfrm>
              <a:off x="685800" y="1874520"/>
              <a:ext cx="2423160" cy="1417320"/>
            </a:xfrm>
            <a:prstGeom prst="roundRect">
              <a:avLst>
                <a:gd name="adj" fmla="val 7742"/>
              </a:avLst>
            </a:prstGeom>
            <a:solidFill>
              <a:srgbClr val="FFFDF8"/>
            </a:solidFill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 7">
              <a:extLst>
                <a:ext uri="{FF2B5EF4-FFF2-40B4-BE49-F238E27FC236}">
                  <a16:creationId xmlns:a16="http://schemas.microsoft.com/office/drawing/2014/main" id="{4A73E342-372F-89C6-871F-F15D9A3C6060}"/>
                </a:ext>
              </a:extLst>
            </p:cNvPr>
            <p:cNvSpPr/>
            <p:nvPr/>
          </p:nvSpPr>
          <p:spPr>
            <a:xfrm>
              <a:off x="850392" y="2039112"/>
              <a:ext cx="2093976" cy="3840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17394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57</a:t>
              </a:r>
              <a:endParaRPr lang="en-US" sz="2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6D963596-8F36-033C-3CB4-A9EEB9DDD14A}"/>
                </a:ext>
              </a:extLst>
            </p:cNvPr>
            <p:cNvSpPr/>
            <p:nvPr/>
          </p:nvSpPr>
          <p:spPr>
            <a:xfrm>
              <a:off x="868680" y="2478024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7394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Respuestas</a:t>
              </a:r>
              <a:endParaRPr 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C88C7C36-B3AD-F0CD-53DE-EBB40E7AB584}"/>
                </a:ext>
              </a:extLst>
            </p:cNvPr>
            <p:cNvSpPr/>
            <p:nvPr/>
          </p:nvSpPr>
          <p:spPr>
            <a:xfrm>
              <a:off x="850392" y="2779776"/>
              <a:ext cx="2057400" cy="42976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A655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Google Forms + difusión abierta</a:t>
              </a:r>
              <a:endParaRPr 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C0F50A2-1DA4-FA7B-0F5B-70895AC6752E}"/>
              </a:ext>
            </a:extLst>
          </p:cNvPr>
          <p:cNvGrpSpPr/>
          <p:nvPr/>
        </p:nvGrpSpPr>
        <p:grpSpPr>
          <a:xfrm>
            <a:off x="4803563" y="1936503"/>
            <a:ext cx="2423160" cy="1417320"/>
            <a:chOff x="685800" y="1874520"/>
            <a:chExt cx="2423160" cy="1417320"/>
          </a:xfrm>
        </p:grpSpPr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EC560778-F2AA-247F-5163-EA631B336F96}"/>
                </a:ext>
              </a:extLst>
            </p:cNvPr>
            <p:cNvSpPr/>
            <p:nvPr/>
          </p:nvSpPr>
          <p:spPr>
            <a:xfrm>
              <a:off x="685800" y="1874520"/>
              <a:ext cx="2423160" cy="1417320"/>
            </a:xfrm>
            <a:prstGeom prst="roundRect">
              <a:avLst>
                <a:gd name="adj" fmla="val 7742"/>
              </a:avLst>
            </a:prstGeom>
            <a:solidFill>
              <a:srgbClr val="FFFDF8"/>
            </a:solidFill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 7">
              <a:extLst>
                <a:ext uri="{FF2B5EF4-FFF2-40B4-BE49-F238E27FC236}">
                  <a16:creationId xmlns:a16="http://schemas.microsoft.com/office/drawing/2014/main" id="{9851E92E-CF99-8129-80EB-DA9065D2CE47}"/>
                </a:ext>
              </a:extLst>
            </p:cNvPr>
            <p:cNvSpPr/>
            <p:nvPr/>
          </p:nvSpPr>
          <p:spPr>
            <a:xfrm>
              <a:off x="850392" y="2039112"/>
              <a:ext cx="2093976" cy="3840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68,4%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" name="Text 8">
              <a:extLst>
                <a:ext uri="{FF2B5EF4-FFF2-40B4-BE49-F238E27FC236}">
                  <a16:creationId xmlns:a16="http://schemas.microsoft.com/office/drawing/2014/main" id="{2FBF52B2-D1C8-6DCD-F3CE-E2BD4385B672}"/>
                </a:ext>
              </a:extLst>
            </p:cNvPr>
            <p:cNvSpPr/>
            <p:nvPr/>
          </p:nvSpPr>
          <p:spPr>
            <a:xfrm>
              <a:off x="868680" y="2473452"/>
              <a:ext cx="2057400" cy="21945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1400" b="1" dirty="0">
                  <a:solidFill>
                    <a:srgbClr val="17394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Lectores activos</a:t>
              </a:r>
              <a:endParaRPr 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0DB48E97-B021-3D6C-1A4E-6A396769EC70}"/>
                </a:ext>
              </a:extLst>
            </p:cNvPr>
            <p:cNvSpPr/>
            <p:nvPr/>
          </p:nvSpPr>
          <p:spPr>
            <a:xfrm>
              <a:off x="868680" y="2862072"/>
              <a:ext cx="2057400" cy="20116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1200" dirty="0">
                  <a:solidFill>
                    <a:srgbClr val="5A655F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Leen al menos algunas veces al mes</a:t>
              </a:r>
              <a:endParaRPr 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E55FD52D-0ADD-79A8-FED4-094A2712A845}"/>
              </a:ext>
            </a:extLst>
          </p:cNvPr>
          <p:cNvGrpSpPr/>
          <p:nvPr/>
        </p:nvGrpSpPr>
        <p:grpSpPr>
          <a:xfrm>
            <a:off x="7596335" y="1936503"/>
            <a:ext cx="2423160" cy="1417320"/>
            <a:chOff x="685800" y="1874520"/>
            <a:chExt cx="2423160" cy="1417320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25B0C80D-62DD-B74B-BC1E-B4D518A54BB2}"/>
                </a:ext>
              </a:extLst>
            </p:cNvPr>
            <p:cNvSpPr/>
            <p:nvPr/>
          </p:nvSpPr>
          <p:spPr>
            <a:xfrm>
              <a:off x="685800" y="1874520"/>
              <a:ext cx="2423160" cy="1417320"/>
            </a:xfrm>
            <a:prstGeom prst="roundRect">
              <a:avLst>
                <a:gd name="adj" fmla="val 7742"/>
              </a:avLst>
            </a:prstGeom>
            <a:solidFill>
              <a:srgbClr val="FFFDF8"/>
            </a:solidFill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8E6E2CCC-EE1D-1B2D-A9AE-CBF2F64993E2}"/>
                </a:ext>
              </a:extLst>
            </p:cNvPr>
            <p:cNvSpPr/>
            <p:nvPr/>
          </p:nvSpPr>
          <p:spPr>
            <a:xfrm>
              <a:off x="850392" y="2039112"/>
              <a:ext cx="2093976" cy="384048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63,2%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BA8B27E3-06D2-FDA1-2D9F-5A826987EC61}"/>
                </a:ext>
              </a:extLst>
            </p:cNvPr>
            <p:cNvSpPr/>
            <p:nvPr/>
          </p:nvSpPr>
          <p:spPr>
            <a:xfrm>
              <a:off x="868680" y="2473451"/>
              <a:ext cx="1325164" cy="226149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n-US" sz="1400" b="1" dirty="0">
                  <a:solidFill>
                    <a:srgbClr val="173947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+4 libros/año</a:t>
              </a:r>
              <a:endParaRPr lang="en-US" sz="1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3" name="Text 9">
            <a:extLst>
              <a:ext uri="{FF2B5EF4-FFF2-40B4-BE49-F238E27FC236}">
                <a16:creationId xmlns:a16="http://schemas.microsoft.com/office/drawing/2014/main" id="{172C4A15-3EAF-22F6-6ADE-38D8BD672C23}"/>
              </a:ext>
            </a:extLst>
          </p:cNvPr>
          <p:cNvSpPr/>
          <p:nvPr/>
        </p:nvSpPr>
        <p:spPr>
          <a:xfrm>
            <a:off x="7925236" y="2852077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r>
              <a:rPr lang="en-US" sz="1200" dirty="0">
                <a:solidFill>
                  <a:srgbClr val="5A655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Lectura sostenida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Imagen 37" descr="Gráfico de respuestas de formularios. Título de la pregunta: En escala del 1 - 5 donde 1 es menos probable y 5 es completamente probable. &#10;&#10;Si existiera una aplicación que reuniera estas funciones en un solo lugar, ¿qué tan probable sería que la probaras?&#10;. Número de respuestas: 57 respuestas.">
            <a:extLst>
              <a:ext uri="{FF2B5EF4-FFF2-40B4-BE49-F238E27FC236}">
                <a16:creationId xmlns:a16="http://schemas.microsoft.com/office/drawing/2014/main" id="{93A5F43B-5375-48DF-BB31-AC137786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96" b="10170"/>
          <a:stretch>
            <a:fillRect/>
          </a:stretch>
        </p:blipFill>
        <p:spPr>
          <a:xfrm>
            <a:off x="646175" y="3559530"/>
            <a:ext cx="7279061" cy="3050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01E859B6-B059-0C2C-DFF9-2023D5A683E1}"/>
              </a:ext>
            </a:extLst>
          </p:cNvPr>
          <p:cNvGrpSpPr/>
          <p:nvPr/>
        </p:nvGrpSpPr>
        <p:grpSpPr>
          <a:xfrm>
            <a:off x="8309543" y="3786232"/>
            <a:ext cx="3211897" cy="2402473"/>
            <a:chOff x="693714" y="1764792"/>
            <a:chExt cx="2423160" cy="141732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46" name="Shape 6">
              <a:extLst>
                <a:ext uri="{FF2B5EF4-FFF2-40B4-BE49-F238E27FC236}">
                  <a16:creationId xmlns:a16="http://schemas.microsoft.com/office/drawing/2014/main" id="{52259F1C-3DB9-F5C1-3451-CE03C60E1353}"/>
                </a:ext>
              </a:extLst>
            </p:cNvPr>
            <p:cNvSpPr/>
            <p:nvPr/>
          </p:nvSpPr>
          <p:spPr>
            <a:xfrm>
              <a:off x="693714" y="1764792"/>
              <a:ext cx="2423160" cy="1417320"/>
            </a:xfrm>
            <a:prstGeom prst="roundRect">
              <a:avLst>
                <a:gd name="adj" fmla="val 7742"/>
              </a:avLst>
            </a:prstGeom>
            <a:grpFill/>
            <a:ln w="10160">
              <a:solidFill>
                <a:schemeClr val="accent3">
                  <a:lumMod val="20000"/>
                  <a:lumOff val="80000"/>
                </a:schemeClr>
              </a:solidFill>
              <a:prstDash val="solid"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 7">
              <a:extLst>
                <a:ext uri="{FF2B5EF4-FFF2-40B4-BE49-F238E27FC236}">
                  <a16:creationId xmlns:a16="http://schemas.microsoft.com/office/drawing/2014/main" id="{595998F6-2F65-4AA4-0284-EC2CB90DC9B9}"/>
                </a:ext>
              </a:extLst>
            </p:cNvPr>
            <p:cNvSpPr/>
            <p:nvPr/>
          </p:nvSpPr>
          <p:spPr>
            <a:xfrm>
              <a:off x="693714" y="1872508"/>
              <a:ext cx="2415246" cy="384048"/>
            </a:xfrm>
            <a:prstGeom prst="rect">
              <a:avLst/>
            </a:prstGeom>
            <a:grp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2200" b="1" dirty="0">
                  <a:solidFill>
                    <a:schemeClr val="bg2">
                      <a:lumMod val="1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59,6% </a:t>
              </a:r>
              <a:r>
                <a:rPr lang="en-US" sz="2200" b="1" dirty="0" err="1">
                  <a:solidFill>
                    <a:schemeClr val="bg2">
                      <a:lumMod val="1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responde</a:t>
              </a:r>
              <a:r>
                <a:rPr lang="en-US" sz="2200" b="1" dirty="0">
                  <a:solidFill>
                    <a:schemeClr val="bg2">
                      <a:lumMod val="10000"/>
                    </a:schemeClr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 4 o 5</a:t>
              </a:r>
            </a:p>
          </p:txBody>
        </p:sp>
        <p:sp>
          <p:nvSpPr>
            <p:cNvPr id="48" name="Text 8">
              <a:extLst>
                <a:ext uri="{FF2B5EF4-FFF2-40B4-BE49-F238E27FC236}">
                  <a16:creationId xmlns:a16="http://schemas.microsoft.com/office/drawing/2014/main" id="{533A786F-8F7A-CDC8-EB08-0C011800DE47}"/>
                </a:ext>
              </a:extLst>
            </p:cNvPr>
            <p:cNvSpPr/>
            <p:nvPr/>
          </p:nvSpPr>
          <p:spPr>
            <a:xfrm>
              <a:off x="868680" y="2306336"/>
              <a:ext cx="2057400" cy="734591"/>
            </a:xfrm>
            <a:prstGeom prst="rect">
              <a:avLst/>
            </a:prstGeom>
            <a:grpFill/>
            <a:ln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s-CL" b="1" dirty="0">
                  <a:solidFill>
                    <a:srgbClr val="173947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Existe un interés real del usuario por probar una alternativa centralizada.</a:t>
              </a:r>
              <a:endParaRPr lang="en-US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endParaRPr>
            </a:p>
          </p:txBody>
        </p:sp>
      </p:grpSp>
      <p:sp>
        <p:nvSpPr>
          <p:cNvPr id="3" name="Shape 5">
            <a:extLst>
              <a:ext uri="{FF2B5EF4-FFF2-40B4-BE49-F238E27FC236}">
                <a16:creationId xmlns:a16="http://schemas.microsoft.com/office/drawing/2014/main" id="{A8476AED-CB2B-7789-4FB6-FBB3C147EB22}"/>
              </a:ext>
            </a:extLst>
          </p:cNvPr>
          <p:cNvSpPr/>
          <p:nvPr/>
        </p:nvSpPr>
        <p:spPr>
          <a:xfrm>
            <a:off x="411480" y="1027856"/>
            <a:ext cx="11323235" cy="683120"/>
          </a:xfrm>
          <a:prstGeom prst="roundRect">
            <a:avLst>
              <a:gd name="adj" fmla="val 1212"/>
            </a:avLst>
          </a:prstGeom>
          <a:solidFill>
            <a:srgbClr val="F3F1EC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encuesta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fue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diseñada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para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validar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comportamientos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reales: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lectura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registro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progreso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citas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intención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sz="1100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chemeClr val="tx1">
                  <a:lumMod val="75000"/>
                  <a:lumOff val="2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endParaRPr lang="es-CL" dirty="0"/>
          </a:p>
        </p:txBody>
      </p:sp>
      <p:pic>
        <p:nvPicPr>
          <p:cNvPr id="25" name="Gráfico 24" descr="Open book contorno">
            <a:extLst>
              <a:ext uri="{FF2B5EF4-FFF2-40B4-BE49-F238E27FC236}">
                <a16:creationId xmlns:a16="http://schemas.microsoft.com/office/drawing/2014/main" id="{C4CBE84C-5404-3F8C-F777-3AE3A98D6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822" y="2010050"/>
            <a:ext cx="667518" cy="667518"/>
          </a:xfrm>
          <a:prstGeom prst="rect">
            <a:avLst/>
          </a:prstGeom>
        </p:spPr>
      </p:pic>
      <p:pic>
        <p:nvPicPr>
          <p:cNvPr id="27" name="Gráfico 26" descr="Books con relleno sólido">
            <a:extLst>
              <a:ext uri="{FF2B5EF4-FFF2-40B4-BE49-F238E27FC236}">
                <a16:creationId xmlns:a16="http://schemas.microsoft.com/office/drawing/2014/main" id="{9B215CF1-0330-5D97-6D18-7B55F6386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6149" y="2036160"/>
            <a:ext cx="641408" cy="641408"/>
          </a:xfrm>
          <a:prstGeom prst="rect">
            <a:avLst/>
          </a:prstGeom>
        </p:spPr>
      </p:pic>
      <p:pic>
        <p:nvPicPr>
          <p:cNvPr id="35" name="Gráfico 34" descr="Users con relleno sólido">
            <a:extLst>
              <a:ext uri="{FF2B5EF4-FFF2-40B4-BE49-F238E27FC236}">
                <a16:creationId xmlns:a16="http://schemas.microsoft.com/office/drawing/2014/main" id="{D456960D-2115-FD11-3BEF-5FCFF7D19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2711" y="1973549"/>
            <a:ext cx="758998" cy="75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10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E3B0-1382-EC1A-3CB5-D0F0063E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636B60CD-4730-467A-B74E-35D0455F4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73E942E6-50C2-77DB-02AF-F3194C833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1" y="335509"/>
            <a:ext cx="6024287" cy="65055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Funcionalidades más valoradas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A5B4274D-9108-336D-AE5D-5138916A2AD4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aphicFrame>
        <p:nvGraphicFramePr>
          <p:cNvPr id="72" name="Gráfico 71">
            <a:extLst>
              <a:ext uri="{FF2B5EF4-FFF2-40B4-BE49-F238E27FC236}">
                <a16:creationId xmlns:a16="http://schemas.microsoft.com/office/drawing/2014/main" id="{B28721DF-61E7-D668-5FE7-2928002DAA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7998169"/>
              </p:ext>
            </p:extLst>
          </p:nvPr>
        </p:nvGraphicFramePr>
        <p:xfrm>
          <a:off x="562300" y="1089765"/>
          <a:ext cx="10959139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968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45508-65F3-CCD7-7C7B-DAE8FB75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43B49F3A-4D8A-6C06-E308-7FDC642D4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83B097F3-D32B-393F-E18E-877B7C028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93" y="362212"/>
            <a:ext cx="6939225" cy="650557"/>
          </a:xfrm>
        </p:spPr>
        <p:txBody>
          <a:bodyPr>
            <a:noAutofit/>
          </a:bodyPr>
          <a:lstStyle/>
          <a:p>
            <a:r>
              <a:rPr lang="es-CL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Análisis de Alternativas de Mercado</a:t>
            </a:r>
            <a:endParaRPr lang="en-US" sz="3000" b="1" dirty="0">
              <a:solidFill>
                <a:srgbClr val="173947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E6F53FD-763C-B2BE-7D73-DE4D5089D166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D868B8FB-07EC-24BB-B38E-4FA4F8CBE180}"/>
              </a:ext>
            </a:extLst>
          </p:cNvPr>
          <p:cNvGrpSpPr/>
          <p:nvPr/>
        </p:nvGrpSpPr>
        <p:grpSpPr>
          <a:xfrm>
            <a:off x="718088" y="1259414"/>
            <a:ext cx="3100605" cy="2995278"/>
            <a:chOff x="728663" y="1163228"/>
            <a:chExt cx="3100605" cy="2734166"/>
          </a:xfrm>
          <a:solidFill>
            <a:schemeClr val="bg1"/>
          </a:solidFill>
        </p:grpSpPr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F4A7B543-6EEC-C567-4448-5F4EAF3268A1}"/>
                </a:ext>
              </a:extLst>
            </p:cNvPr>
            <p:cNvGrpSpPr/>
            <p:nvPr/>
          </p:nvGrpSpPr>
          <p:grpSpPr>
            <a:xfrm>
              <a:off x="728663" y="1163228"/>
              <a:ext cx="3100605" cy="2734166"/>
              <a:chOff x="685800" y="1816126"/>
              <a:chExt cx="2423160" cy="1608166"/>
            </a:xfrm>
            <a:grpFill/>
          </p:grpSpPr>
          <p:sp>
            <p:nvSpPr>
              <p:cNvPr id="41" name="Shape 6">
                <a:extLst>
                  <a:ext uri="{FF2B5EF4-FFF2-40B4-BE49-F238E27FC236}">
                    <a16:creationId xmlns:a16="http://schemas.microsoft.com/office/drawing/2014/main" id="{73B1B7CB-B546-17B7-5A63-F9B4AE9E54FC}"/>
                  </a:ext>
                </a:extLst>
              </p:cNvPr>
              <p:cNvSpPr/>
              <p:nvPr/>
            </p:nvSpPr>
            <p:spPr>
              <a:xfrm>
                <a:off x="685800" y="1816126"/>
                <a:ext cx="2423160" cy="1608166"/>
              </a:xfrm>
              <a:prstGeom prst="roundRect">
                <a:avLst>
                  <a:gd name="adj" fmla="val 7742"/>
                </a:avLst>
              </a:prstGeom>
              <a:grpFill/>
              <a:ln w="10160">
                <a:solidFill>
                  <a:srgbClr val="E7E0D5"/>
                </a:solidFill>
                <a:prstDash val="soli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Text 9">
                <a:extLst>
                  <a:ext uri="{FF2B5EF4-FFF2-40B4-BE49-F238E27FC236}">
                    <a16:creationId xmlns:a16="http://schemas.microsoft.com/office/drawing/2014/main" id="{9E4EA744-C7CD-7281-50EC-DCA6853F3DB2}"/>
                  </a:ext>
                </a:extLst>
              </p:cNvPr>
              <p:cNvSpPr/>
              <p:nvPr/>
            </p:nvSpPr>
            <p:spPr>
              <a:xfrm>
                <a:off x="962355" y="2829479"/>
                <a:ext cx="2125277" cy="462361"/>
              </a:xfrm>
              <a:prstGeom prst="rect">
                <a:avLst/>
              </a:prstGeom>
              <a:grpFill/>
              <a:ln/>
            </p:spPr>
            <p:txBody>
              <a:bodyPr wrap="square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600" b="1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Goodreads</a:t>
                </a:r>
              </a:p>
              <a:p>
                <a:pPr marL="0" indent="0">
                  <a:buNone/>
                </a:pPr>
                <a:r>
                  <a:rPr lang="en-US" sz="11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Enfoque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: </a:t>
                </a:r>
                <a:r>
                  <a:rPr lang="en-US" sz="1100" dirty="0" err="1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Catálogo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, reseñas, comunidad.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Base de datos amplia con reseñas comunitarias.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Interfaz desactualizada y sobrecargada de texto.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Enfocado en descubrir libros, no en la experiencia de lectura.</a:t>
                </a:r>
              </a:p>
              <a:p>
                <a:pPr marL="0" indent="0">
                  <a:buNone/>
                </a:pP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4" name="Imagen 3" descr="Giveaways | Goodreads">
              <a:extLst>
                <a:ext uri="{FF2B5EF4-FFF2-40B4-BE49-F238E27FC236}">
                  <a16:creationId xmlns:a16="http://schemas.microsoft.com/office/drawing/2014/main" id="{EE8E726B-7B0B-42B3-7A6D-E22227E6D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460" y="1385720"/>
              <a:ext cx="2006599" cy="105012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FD2A5035-8DE9-9A99-69B6-CE22D2938319}"/>
              </a:ext>
            </a:extLst>
          </p:cNvPr>
          <p:cNvGrpSpPr/>
          <p:nvPr/>
        </p:nvGrpSpPr>
        <p:grpSpPr>
          <a:xfrm>
            <a:off x="4550579" y="1259403"/>
            <a:ext cx="3100605" cy="2995278"/>
            <a:chOff x="3569536" y="3162175"/>
            <a:chExt cx="3100605" cy="2500499"/>
          </a:xfrm>
          <a:solidFill>
            <a:schemeClr val="bg1"/>
          </a:solidFill>
        </p:grpSpPr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4D585310-4112-D2AC-DC34-48651B5F37E8}"/>
                </a:ext>
              </a:extLst>
            </p:cNvPr>
            <p:cNvGrpSpPr/>
            <p:nvPr/>
          </p:nvGrpSpPr>
          <p:grpSpPr>
            <a:xfrm>
              <a:off x="3569536" y="3162175"/>
              <a:ext cx="3100605" cy="2500499"/>
              <a:chOff x="685800" y="1821111"/>
              <a:chExt cx="2423160" cy="1470729"/>
            </a:xfrm>
            <a:grpFill/>
          </p:grpSpPr>
          <p:sp>
            <p:nvSpPr>
              <p:cNvPr id="49" name="Shape 6">
                <a:extLst>
                  <a:ext uri="{FF2B5EF4-FFF2-40B4-BE49-F238E27FC236}">
                    <a16:creationId xmlns:a16="http://schemas.microsoft.com/office/drawing/2014/main" id="{8E9A19BD-E8A5-9008-71F0-2C7AFB2B4C74}"/>
                  </a:ext>
                </a:extLst>
              </p:cNvPr>
              <p:cNvSpPr/>
              <p:nvPr/>
            </p:nvSpPr>
            <p:spPr>
              <a:xfrm>
                <a:off x="685800" y="1821111"/>
                <a:ext cx="2423160" cy="1470729"/>
              </a:xfrm>
              <a:prstGeom prst="roundRect">
                <a:avLst>
                  <a:gd name="adj" fmla="val 7742"/>
                </a:avLst>
              </a:prstGeom>
              <a:grpFill/>
              <a:ln w="10160">
                <a:solidFill>
                  <a:srgbClr val="E7E0D5"/>
                </a:solidFill>
                <a:prstDash val="solid"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0" name="Text 9">
                <a:extLst>
                  <a:ext uri="{FF2B5EF4-FFF2-40B4-BE49-F238E27FC236}">
                    <a16:creationId xmlns:a16="http://schemas.microsoft.com/office/drawing/2014/main" id="{81E4758C-5F2F-B468-DF65-05F02B01D4E8}"/>
                  </a:ext>
                </a:extLst>
              </p:cNvPr>
              <p:cNvSpPr/>
              <p:nvPr/>
            </p:nvSpPr>
            <p:spPr>
              <a:xfrm>
                <a:off x="868518" y="2713358"/>
                <a:ext cx="2057400" cy="429768"/>
              </a:xfrm>
              <a:prstGeom prst="rect">
                <a:avLst/>
              </a:prstGeom>
              <a:grpFill/>
              <a:ln/>
            </p:spPr>
            <p:txBody>
              <a:bodyPr wrap="square" rtlCol="0" anchor="ctr">
                <a:noAutofit/>
              </a:bodyPr>
              <a:lstStyle/>
              <a:p>
                <a:r>
                  <a:rPr lang="en-US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Bookmory</a:t>
                </a:r>
                <a:endPara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r>
                  <a:rPr lang="en-US" sz="1100" b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Enfoque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Rastreador de lectura completo con herramientas avanzadas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Registro de páginas, notas, OCR y temporizador.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Orientado a la gestión exhaustiva de datos.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Flujo de usuario cargado de opciones.</a:t>
                </a:r>
              </a:p>
            </p:txBody>
          </p:sp>
        </p:grpSp>
        <p:pic>
          <p:nvPicPr>
            <p:cNvPr id="23" name="Imagen 22" descr="Bookmory - reading tracker - Apps on Google Play">
              <a:extLst>
                <a:ext uri="{FF2B5EF4-FFF2-40B4-BE49-F238E27FC236}">
                  <a16:creationId xmlns:a16="http://schemas.microsoft.com/office/drawing/2014/main" id="{F0A983D3-D906-0B6A-44B3-6C1492208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57425" y="3311247"/>
              <a:ext cx="1115064" cy="111506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520B914D-13BA-A51A-29D4-762E0D4AE36B}"/>
              </a:ext>
            </a:extLst>
          </p:cNvPr>
          <p:cNvGrpSpPr/>
          <p:nvPr/>
        </p:nvGrpSpPr>
        <p:grpSpPr>
          <a:xfrm>
            <a:off x="8373307" y="1259403"/>
            <a:ext cx="3100605" cy="2995280"/>
            <a:chOff x="2978279" y="3921278"/>
            <a:chExt cx="3100605" cy="2995280"/>
          </a:xfrm>
          <a:solidFill>
            <a:schemeClr val="bg1"/>
          </a:solidFill>
        </p:grpSpPr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6D993132-E55F-917E-0597-B445799356C4}"/>
                </a:ext>
              </a:extLst>
            </p:cNvPr>
            <p:cNvGrpSpPr/>
            <p:nvPr/>
          </p:nvGrpSpPr>
          <p:grpSpPr>
            <a:xfrm>
              <a:off x="2978279" y="3921278"/>
              <a:ext cx="3100605" cy="2995280"/>
              <a:chOff x="670589" y="1794180"/>
              <a:chExt cx="2423160" cy="1761747"/>
            </a:xfrm>
            <a:grpFill/>
          </p:grpSpPr>
          <p:sp>
            <p:nvSpPr>
              <p:cNvPr id="55" name="Shape 6">
                <a:extLst>
                  <a:ext uri="{FF2B5EF4-FFF2-40B4-BE49-F238E27FC236}">
                    <a16:creationId xmlns:a16="http://schemas.microsoft.com/office/drawing/2014/main" id="{0CE6655E-20D5-608A-3AEA-CB869985FA30}"/>
                  </a:ext>
                </a:extLst>
              </p:cNvPr>
              <p:cNvSpPr/>
              <p:nvPr/>
            </p:nvSpPr>
            <p:spPr>
              <a:xfrm>
                <a:off x="670589" y="1794180"/>
                <a:ext cx="2423160" cy="1761747"/>
              </a:xfrm>
              <a:prstGeom prst="roundRect">
                <a:avLst>
                  <a:gd name="adj" fmla="val 7742"/>
                </a:avLst>
              </a:prstGeom>
              <a:grpFill/>
              <a:ln w="10160">
                <a:solidFill>
                  <a:srgbClr val="E7E0D5"/>
                </a:solidFill>
                <a:prstDash val="solid"/>
              </a:ln>
            </p:spPr>
            <p:txBody>
              <a:bodyPr/>
              <a:lstStyle/>
              <a:p>
                <a:endParaRPr lang="es-CL" dirty="0"/>
              </a:p>
            </p:txBody>
          </p:sp>
          <p:sp>
            <p:nvSpPr>
              <p:cNvPr id="56" name="Text 9">
                <a:extLst>
                  <a:ext uri="{FF2B5EF4-FFF2-40B4-BE49-F238E27FC236}">
                    <a16:creationId xmlns:a16="http://schemas.microsoft.com/office/drawing/2014/main" id="{3B857595-44A7-2DA8-2451-E1AD0023C8D2}"/>
                  </a:ext>
                </a:extLst>
              </p:cNvPr>
              <p:cNvSpPr/>
              <p:nvPr/>
            </p:nvSpPr>
            <p:spPr>
              <a:xfrm>
                <a:off x="928770" y="2957014"/>
                <a:ext cx="2057400" cy="429768"/>
              </a:xfrm>
              <a:prstGeom prst="rect">
                <a:avLst/>
              </a:prstGeom>
              <a:grpFill/>
              <a:ln/>
            </p:spPr>
            <p:txBody>
              <a:bodyPr wrap="square" rtlCol="0" anchor="ctr">
                <a:noAutofit/>
              </a:bodyPr>
              <a:lstStyle/>
              <a:p>
                <a:r>
                  <a:rPr lang="es-CL" sz="1600" b="1" dirty="0" err="1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StoryGraph</a:t>
                </a:r>
                <a:endParaRPr lang="en-US" sz="1600" b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indent="0">
                  <a:buNone/>
                </a:pPr>
                <a:r>
                  <a:rPr lang="en-US" sz="1100" b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Enfoque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  <a:r>
                  <a:rPr lang="en-US" sz="11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Recomendaciones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sz="11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desafíos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y </a:t>
                </a:r>
                <a:r>
                  <a:rPr lang="en-US" sz="11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lectura</a:t>
                </a:r>
                <a:r>
                  <a:rPr lang="en-US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social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Gráficos detallados y métricas complejas sobre hábitos.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Desafíos comunitarios y lectura social.</a:t>
                </a:r>
              </a:p>
              <a:p>
                <a:pPr lvl="0"/>
                <a:r>
                  <a:rPr lang="es-CL" sz="11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- Alta curva de aprendizaje para un usuario casual.</a:t>
                </a:r>
              </a:p>
              <a:p>
                <a:pPr marL="0" indent="0">
                  <a:buNone/>
                </a:pPr>
                <a:endParaRPr lang="en-US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24" name="Imagen 23" descr="The StoryGraph - Wikipedia">
              <a:extLst>
                <a:ext uri="{FF2B5EF4-FFF2-40B4-BE49-F238E27FC236}">
                  <a16:creationId xmlns:a16="http://schemas.microsoft.com/office/drawing/2014/main" id="{7D69E223-ED0D-A777-2A2E-A64DC50D6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40525" y="4125552"/>
              <a:ext cx="1168818" cy="116881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4BBE32C7-4448-4A2B-1820-D0F78E054B7F}"/>
              </a:ext>
            </a:extLst>
          </p:cNvPr>
          <p:cNvGrpSpPr/>
          <p:nvPr/>
        </p:nvGrpSpPr>
        <p:grpSpPr>
          <a:xfrm>
            <a:off x="1264885" y="4501260"/>
            <a:ext cx="9688223" cy="2019347"/>
            <a:chOff x="545909" y="2128826"/>
            <a:chExt cx="2761605" cy="1417320"/>
          </a:xfrm>
        </p:grpSpPr>
        <p:sp>
          <p:nvSpPr>
            <p:cNvPr id="61" name="Shape 6">
              <a:extLst>
                <a:ext uri="{FF2B5EF4-FFF2-40B4-BE49-F238E27FC236}">
                  <a16:creationId xmlns:a16="http://schemas.microsoft.com/office/drawing/2014/main" id="{257A8650-693B-ADA0-5338-6F5922192147}"/>
                </a:ext>
              </a:extLst>
            </p:cNvPr>
            <p:cNvSpPr/>
            <p:nvPr/>
          </p:nvSpPr>
          <p:spPr>
            <a:xfrm>
              <a:off x="545909" y="2128826"/>
              <a:ext cx="2761605" cy="1417320"/>
            </a:xfrm>
            <a:prstGeom prst="roundRect">
              <a:avLst>
                <a:gd name="adj" fmla="val 7742"/>
              </a:avLst>
            </a:prstGeom>
            <a:solidFill>
              <a:srgbClr val="FFFDF8"/>
            </a:solidFill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62" name="Text 9">
              <a:extLst>
                <a:ext uri="{FF2B5EF4-FFF2-40B4-BE49-F238E27FC236}">
                  <a16:creationId xmlns:a16="http://schemas.microsoft.com/office/drawing/2014/main" id="{296F0DDD-6B95-2C99-7123-7D325962C661}"/>
                </a:ext>
              </a:extLst>
            </p:cNvPr>
            <p:cNvSpPr/>
            <p:nvPr/>
          </p:nvSpPr>
          <p:spPr>
            <a:xfrm>
              <a:off x="1534909" y="2415500"/>
              <a:ext cx="1372259" cy="748176"/>
            </a:xfrm>
            <a:prstGeom prst="rect">
              <a:avLst/>
            </a:prstGeom>
            <a:noFill/>
            <a:ln/>
          </p:spPr>
          <p:txBody>
            <a:bodyPr wrap="square" rtlCol="0" anchor="ctr">
              <a:noAutofit/>
            </a:bodyPr>
            <a:lstStyle/>
            <a:p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Hilo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 </a:t>
              </a:r>
            </a:p>
            <a:p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Enfoque</a:t>
              </a:r>
              <a:r>
                <a:rPr lang="es-CL" sz="1600" dirty="0"/>
                <a:t>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Diario visual y registro simplificado.</a:t>
              </a:r>
            </a:p>
            <a:p>
              <a:endParaRPr lang="es-CL" sz="16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endParaRPr>
            </a:p>
            <a:p>
              <a:pPr lvl="0"/>
              <a:r>
                <a:rPr lang="es-CL" sz="1600" dirty="0"/>
                <a:t>-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Centralización limpia de progreso, citas y notas.</a:t>
              </a:r>
            </a:p>
            <a:p>
              <a:pPr lvl="0"/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- Experiencia visual intuitiva diseñada sin fricción.</a:t>
              </a:r>
            </a:p>
            <a:p>
              <a:pPr lvl="0"/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rPr>
                <a:t>- Enfocado en la retención del hábito de lectura.</a:t>
              </a:r>
            </a:p>
          </p:txBody>
        </p:sp>
      </p:grpSp>
      <p:pic>
        <p:nvPicPr>
          <p:cNvPr id="26" name="Imagen 25">
            <a:extLst>
              <a:ext uri="{FF2B5EF4-FFF2-40B4-BE49-F238E27FC236}">
                <a16:creationId xmlns:a16="http://schemas.microsoft.com/office/drawing/2014/main" id="{DEDDC2BA-4D8F-ADCF-3EDE-5EB6C942C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255" y="4774606"/>
            <a:ext cx="1430438" cy="1430438"/>
          </a:xfrm>
          <a:prstGeom prst="rect">
            <a:avLst/>
          </a:prstGeom>
        </p:spPr>
      </p:pic>
      <p:pic>
        <p:nvPicPr>
          <p:cNvPr id="3" name="Gráfico 2" descr="Badge Tick con relleno sólido">
            <a:extLst>
              <a:ext uri="{FF2B5EF4-FFF2-40B4-BE49-F238E27FC236}">
                <a16:creationId xmlns:a16="http://schemas.microsoft.com/office/drawing/2014/main" id="{F6289B72-B063-AF8E-07B6-9A5C6453C8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41550" y="10128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01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3F4F-8D54-38C5-54FF-5A702E5C6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A35C0C41-253B-C649-D41D-76659F78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29CE58FB-39FF-3FB3-3493-A5ACD21B4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1" y="335509"/>
            <a:ext cx="7981103" cy="650557"/>
          </a:xfrm>
        </p:spPr>
        <p:txBody>
          <a:bodyPr>
            <a:noAutofit/>
          </a:bodyPr>
          <a:lstStyle/>
          <a:p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Objetivo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alcance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y limitaciones del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proyecto</a:t>
            </a:r>
            <a:endParaRPr lang="en-US" sz="3000" b="1" dirty="0">
              <a:solidFill>
                <a:srgbClr val="173947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709A7C4C-B155-DFB5-B790-5B13569C73F9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1" descr="icon_target_FFFFFF.png">
            <a:extLst>
              <a:ext uri="{FF2B5EF4-FFF2-40B4-BE49-F238E27FC236}">
                <a16:creationId xmlns:a16="http://schemas.microsoft.com/office/drawing/2014/main" id="{1B0F3DCD-28FF-4DE5-E255-1B9793956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8" y="2532504"/>
            <a:ext cx="378927" cy="378927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1AB76CE-014B-5A11-D382-E7A0356A6DED}"/>
              </a:ext>
            </a:extLst>
          </p:cNvPr>
          <p:cNvGrpSpPr/>
          <p:nvPr/>
        </p:nvGrpSpPr>
        <p:grpSpPr>
          <a:xfrm>
            <a:off x="485770" y="1146532"/>
            <a:ext cx="11163686" cy="1011452"/>
            <a:chOff x="685800" y="1025663"/>
            <a:chExt cx="2423160" cy="2266179"/>
          </a:xfrm>
          <a:solidFill>
            <a:schemeClr val="bg1"/>
          </a:solidFill>
        </p:grpSpPr>
        <p:sp>
          <p:nvSpPr>
            <p:cNvPr id="14" name="Shape 6">
              <a:extLst>
                <a:ext uri="{FF2B5EF4-FFF2-40B4-BE49-F238E27FC236}">
                  <a16:creationId xmlns:a16="http://schemas.microsoft.com/office/drawing/2014/main" id="{54AEAA27-71A2-4D52-50B8-A0794C2940AE}"/>
                </a:ext>
              </a:extLst>
            </p:cNvPr>
            <p:cNvSpPr/>
            <p:nvPr/>
          </p:nvSpPr>
          <p:spPr>
            <a:xfrm>
              <a:off x="685800" y="1025663"/>
              <a:ext cx="2423160" cy="2266179"/>
            </a:xfrm>
            <a:prstGeom prst="roundRect">
              <a:avLst>
                <a:gd name="adj" fmla="val 7742"/>
              </a:avLst>
            </a:prstGeom>
            <a:grpFill/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r>
                <a:rPr lang="es-CL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Objetivo</a:t>
              </a:r>
              <a:endParaRPr lang="es-CL" sz="2000" b="1" dirty="0"/>
            </a:p>
          </p:txBody>
        </p:sp>
        <p:sp>
          <p:nvSpPr>
            <p:cNvPr id="15" name="Text 9">
              <a:extLst>
                <a:ext uri="{FF2B5EF4-FFF2-40B4-BE49-F238E27FC236}">
                  <a16:creationId xmlns:a16="http://schemas.microsoft.com/office/drawing/2014/main" id="{13D3FC9C-85E0-03C3-3DE7-E5403E4C24C2}"/>
                </a:ext>
              </a:extLst>
            </p:cNvPr>
            <p:cNvSpPr/>
            <p:nvPr/>
          </p:nvSpPr>
          <p:spPr>
            <a:xfrm>
              <a:off x="702655" y="2009480"/>
              <a:ext cx="2249204" cy="957063"/>
            </a:xfrm>
            <a:prstGeom prst="rect">
              <a:avLst/>
            </a:prstGeom>
            <a:grpFill/>
            <a:ln/>
          </p:spPr>
          <p:txBody>
            <a:bodyPr wrap="square" rtlCol="0" anchor="ctr">
              <a:noAutofit/>
            </a:bodyPr>
            <a:lstStyle/>
            <a:p>
              <a:pPr lvl="0"/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Desarrollar una aplicación móvil para el seguimiento personalizado de lectura, integrando registro de libros, progreso y citas en una sola experiencia.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33E5B44-8BE9-5B82-DEE2-0AD87844B7D1}"/>
              </a:ext>
            </a:extLst>
          </p:cNvPr>
          <p:cNvGrpSpPr/>
          <p:nvPr/>
        </p:nvGrpSpPr>
        <p:grpSpPr>
          <a:xfrm>
            <a:off x="485769" y="2532505"/>
            <a:ext cx="5450549" cy="3886584"/>
            <a:chOff x="-1313536" y="1927525"/>
            <a:chExt cx="2423160" cy="1224569"/>
          </a:xfrm>
          <a:solidFill>
            <a:schemeClr val="bg1"/>
          </a:solidFill>
        </p:grpSpPr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7197DD2B-C988-8C44-A7A1-F966A9158487}"/>
                </a:ext>
              </a:extLst>
            </p:cNvPr>
            <p:cNvSpPr/>
            <p:nvPr/>
          </p:nvSpPr>
          <p:spPr>
            <a:xfrm>
              <a:off x="-1313536" y="1927525"/>
              <a:ext cx="2423160" cy="1224569"/>
            </a:xfrm>
            <a:prstGeom prst="roundRect">
              <a:avLst>
                <a:gd name="adj" fmla="val 7742"/>
              </a:avLst>
            </a:prstGeom>
            <a:grpFill/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r>
                <a:rPr lang="es-CL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Alcance</a:t>
              </a:r>
            </a:p>
            <a:p>
              <a:endParaRPr lang="es-CL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endParaRPr lang="es-CL" sz="2000" b="1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BAEA37AA-5BE6-F6F9-9006-CCB4216A465E}"/>
                </a:ext>
              </a:extLst>
            </p:cNvPr>
            <p:cNvSpPr/>
            <p:nvPr/>
          </p:nvSpPr>
          <p:spPr>
            <a:xfrm>
              <a:off x="-1229076" y="2129319"/>
              <a:ext cx="2249204" cy="979678"/>
            </a:xfrm>
            <a:prstGeom prst="rect">
              <a:avLst/>
            </a:prstGeom>
            <a:grpFill/>
            <a:ln/>
          </p:spPr>
          <p:txBody>
            <a:bodyPr wrap="square" rtlCol="0" anchor="ctr">
              <a:noAutofit/>
            </a:bodyPr>
            <a:lstStyle/>
            <a:p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Fase 1: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Autenticación de usuarios.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Búsqueda vía Google Books API.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Seguimiento de lectura (biblioteca, progreso, calendario).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Captura de citas (Manual y OCR por foto).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Compartir en redes sociales (Instagram / WhatsApp).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Notificaciones de recordatorio.</a:t>
              </a:r>
            </a:p>
            <a:p>
              <a:endParaRPr lang="es-CL" sz="1600" dirty="0"/>
            </a:p>
            <a:p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Fase 2 (Fuera de esta asignatura):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Perfil público, seguidores y comunidad (reseñas/</a:t>
              </a:r>
              <a:r>
                <a:rPr lang="es-CL" sz="16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likes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).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4DEB84D-2D60-0D8D-A9C6-837E45C15784}"/>
              </a:ext>
            </a:extLst>
          </p:cNvPr>
          <p:cNvGrpSpPr/>
          <p:nvPr/>
        </p:nvGrpSpPr>
        <p:grpSpPr>
          <a:xfrm>
            <a:off x="6198906" y="2529558"/>
            <a:ext cx="5450550" cy="3886579"/>
            <a:chOff x="685800" y="1874520"/>
            <a:chExt cx="2423160" cy="1417320"/>
          </a:xfrm>
          <a:solidFill>
            <a:schemeClr val="bg1"/>
          </a:solidFill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AAB4D3BD-8002-D5B1-9883-A64B11862740}"/>
                </a:ext>
              </a:extLst>
            </p:cNvPr>
            <p:cNvSpPr/>
            <p:nvPr/>
          </p:nvSpPr>
          <p:spPr>
            <a:xfrm>
              <a:off x="685800" y="1874520"/>
              <a:ext cx="2423160" cy="1417320"/>
            </a:xfrm>
            <a:prstGeom prst="roundRect">
              <a:avLst>
                <a:gd name="adj" fmla="val 7742"/>
              </a:avLst>
            </a:prstGeom>
            <a:grpFill/>
            <a:ln w="10160">
              <a:solidFill>
                <a:srgbClr val="E7E0D5"/>
              </a:solidFill>
              <a:prstDash val="solid"/>
            </a:ln>
          </p:spPr>
          <p:txBody>
            <a:bodyPr/>
            <a:lstStyle/>
            <a:p>
              <a:r>
                <a:rPr lang="es-CL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Limitaciones</a:t>
              </a:r>
              <a:endParaRPr lang="es-CL" sz="2000" b="1" dirty="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A5C1DFF5-8544-A860-2EFA-25E731541348}"/>
                </a:ext>
              </a:extLst>
            </p:cNvPr>
            <p:cNvSpPr/>
            <p:nvPr/>
          </p:nvSpPr>
          <p:spPr>
            <a:xfrm>
              <a:off x="770259" y="2029577"/>
              <a:ext cx="2249204" cy="1119218"/>
            </a:xfrm>
            <a:prstGeom prst="rect">
              <a:avLst/>
            </a:prstGeom>
            <a:grpFill/>
            <a:ln/>
          </p:spPr>
          <p:txBody>
            <a:bodyPr wrap="square" rtlCol="0" anchor="ctr">
              <a:no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Tipo de app: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No es un lector de libros (e-Reader).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Despliegue: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Proyecto académico; no contempla publicación en tiendas (App Store / Play Store).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Precisión OCR: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Sujeta a la calidad de la foto tomada por el usuario.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Validación: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Pruebas de usabilidad limitadas a muestra de voluntarios.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s-CL" sz="1600" b="1" dirty="0">
                  <a:latin typeface="Cambria" panose="02040503050406030204" pitchFamily="18" charset="0"/>
                  <a:ea typeface="Cambria" panose="02040503050406030204" pitchFamily="18" charset="0"/>
                </a:rPr>
                <a:t>Infraestructura: </a:t>
              </a:r>
              <a:r>
                <a:rPr lang="es-CL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Dependencia de servicios externos (API de Google y servidores).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4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FEE9-2764-915C-36EC-022C0513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4F31681E-4EA5-0C73-CDE2-B2B8127A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71744975-936C-2DD6-56CA-86C13C46E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081" y="335509"/>
            <a:ext cx="4835567" cy="65055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Metodología y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tecnologías</a:t>
            </a:r>
            <a:endParaRPr lang="en-US" sz="3000" b="1" dirty="0">
              <a:solidFill>
                <a:srgbClr val="173947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0623563A-D37D-32CE-3AC6-58ECC47EA729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1" descr="icon_target_FFFFFF.png">
            <a:extLst>
              <a:ext uri="{FF2B5EF4-FFF2-40B4-BE49-F238E27FC236}">
                <a16:creationId xmlns:a16="http://schemas.microsoft.com/office/drawing/2014/main" id="{FA215D52-78F5-5340-0ECB-A3102082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8" y="2532504"/>
            <a:ext cx="378927" cy="378927"/>
          </a:xfrm>
          <a:prstGeom prst="rect">
            <a:avLst/>
          </a:prstGeom>
        </p:spPr>
      </p:pic>
      <p:sp>
        <p:nvSpPr>
          <p:cNvPr id="23" name="Text 22">
            <a:extLst>
              <a:ext uri="{FF2B5EF4-FFF2-40B4-BE49-F238E27FC236}">
                <a16:creationId xmlns:a16="http://schemas.microsoft.com/office/drawing/2014/main" id="{A2C09A40-4D8F-0B98-891D-BE427627787B}"/>
              </a:ext>
            </a:extLst>
          </p:cNvPr>
          <p:cNvSpPr/>
          <p:nvPr/>
        </p:nvSpPr>
        <p:spPr>
          <a:xfrm>
            <a:off x="3176566" y="5288066"/>
            <a:ext cx="17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4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Tecnologías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3F401D49-CED3-254A-5C9A-70791EA66755}"/>
              </a:ext>
            </a:extLst>
          </p:cNvPr>
          <p:cNvSpPr/>
          <p:nvPr/>
        </p:nvSpPr>
        <p:spPr>
          <a:xfrm>
            <a:off x="5014240" y="4910545"/>
            <a:ext cx="1453622" cy="132414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36982EE1-06F6-7C12-3637-19CCF167D770}"/>
              </a:ext>
            </a:extLst>
          </p:cNvPr>
          <p:cNvSpPr/>
          <p:nvPr/>
        </p:nvSpPr>
        <p:spPr>
          <a:xfrm>
            <a:off x="5014164" y="5883784"/>
            <a:ext cx="2277752" cy="288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Swift / Kotlin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91634B1B-0598-AEBA-1E41-2C2CD8EA4818}"/>
              </a:ext>
            </a:extLst>
          </p:cNvPr>
          <p:cNvSpPr/>
          <p:nvPr/>
        </p:nvSpPr>
        <p:spPr>
          <a:xfrm>
            <a:off x="264702" y="6224921"/>
            <a:ext cx="21442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b="1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70D21E98-67F2-7E28-54CA-55A3178A20B9}"/>
              </a:ext>
            </a:extLst>
          </p:cNvPr>
          <p:cNvSpPr/>
          <p:nvPr/>
        </p:nvSpPr>
        <p:spPr>
          <a:xfrm>
            <a:off x="6532040" y="4926219"/>
            <a:ext cx="1505496" cy="130847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140B67E9-EDFA-CB0A-4EF1-BC339D3380FE}"/>
              </a:ext>
            </a:extLst>
          </p:cNvPr>
          <p:cNvSpPr/>
          <p:nvPr/>
        </p:nvSpPr>
        <p:spPr>
          <a:xfrm>
            <a:off x="6729938" y="5081220"/>
            <a:ext cx="1198565" cy="687971"/>
          </a:xfrm>
          <a:prstGeom prst="roundRect">
            <a:avLst>
              <a:gd name="adj" fmla="val 16000"/>
            </a:avLst>
          </a:prstGeom>
          <a:solidFill>
            <a:srgbClr val="F3F1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50A3EB12-FE25-A3FD-0C7B-5025DA21C805}"/>
              </a:ext>
            </a:extLst>
          </p:cNvPr>
          <p:cNvSpPr/>
          <p:nvPr/>
        </p:nvSpPr>
        <p:spPr>
          <a:xfrm>
            <a:off x="6689556" y="5821773"/>
            <a:ext cx="1448092" cy="288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Xcode / Android Studio</a:t>
            </a:r>
            <a:endParaRPr lang="en-US" sz="11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24516BCB-58E3-91C4-EAD9-C5BC110A4D62}"/>
              </a:ext>
            </a:extLst>
          </p:cNvPr>
          <p:cNvSpPr/>
          <p:nvPr/>
        </p:nvSpPr>
        <p:spPr>
          <a:xfrm>
            <a:off x="5014164" y="6021836"/>
            <a:ext cx="21442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b="1" dirty="0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0AFDDA95-E117-33B0-54BF-C053FEAF23AE}"/>
              </a:ext>
            </a:extLst>
          </p:cNvPr>
          <p:cNvSpPr/>
          <p:nvPr/>
        </p:nvSpPr>
        <p:spPr>
          <a:xfrm>
            <a:off x="8101313" y="4926219"/>
            <a:ext cx="1200476" cy="130847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EE7352B6-179B-BD22-65A7-7586C78DE017}"/>
              </a:ext>
            </a:extLst>
          </p:cNvPr>
          <p:cNvSpPr/>
          <p:nvPr/>
        </p:nvSpPr>
        <p:spPr>
          <a:xfrm>
            <a:off x="8167942" y="5882070"/>
            <a:ext cx="1458773" cy="288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Supabase</a:t>
            </a:r>
            <a:endParaRPr lang="en-US" sz="11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4F7F442A-0C90-650C-A330-D4CBCB7AB395}"/>
              </a:ext>
            </a:extLst>
          </p:cNvPr>
          <p:cNvSpPr/>
          <p:nvPr/>
        </p:nvSpPr>
        <p:spPr>
          <a:xfrm>
            <a:off x="9340808" y="4926219"/>
            <a:ext cx="1311972" cy="1308472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F4D706BB-6E1A-563F-70D7-1EBF408E7F85}"/>
              </a:ext>
            </a:extLst>
          </p:cNvPr>
          <p:cNvSpPr/>
          <p:nvPr/>
        </p:nvSpPr>
        <p:spPr>
          <a:xfrm>
            <a:off x="9505400" y="5116377"/>
            <a:ext cx="570801" cy="687971"/>
          </a:xfrm>
          <a:prstGeom prst="roundRect">
            <a:avLst>
              <a:gd name="adj" fmla="val 16000"/>
            </a:avLst>
          </a:prstGeom>
          <a:solidFill>
            <a:srgbClr val="F3F1E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EDB060E6-C697-BA47-88C2-A05E491EADA6}"/>
              </a:ext>
            </a:extLst>
          </p:cNvPr>
          <p:cNvSpPr/>
          <p:nvPr/>
        </p:nvSpPr>
        <p:spPr>
          <a:xfrm>
            <a:off x="9456712" y="5852743"/>
            <a:ext cx="1164990" cy="288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Google Books API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BBE5442A-B440-5505-E0DA-BD5EDCC0BA7F}"/>
              </a:ext>
            </a:extLst>
          </p:cNvPr>
          <p:cNvSpPr/>
          <p:nvPr/>
        </p:nvSpPr>
        <p:spPr>
          <a:xfrm>
            <a:off x="10691799" y="4926219"/>
            <a:ext cx="1235499" cy="1308471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A0D7D55F-E3BD-A055-43D7-6D80B9DA47C4}"/>
              </a:ext>
            </a:extLst>
          </p:cNvPr>
          <p:cNvSpPr/>
          <p:nvPr/>
        </p:nvSpPr>
        <p:spPr>
          <a:xfrm>
            <a:off x="10779531" y="5852743"/>
            <a:ext cx="652446" cy="288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Git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8" name="Image 2" descr="tech_xcode_1B3A4B.png">
            <a:extLst>
              <a:ext uri="{FF2B5EF4-FFF2-40B4-BE49-F238E27FC236}">
                <a16:creationId xmlns:a16="http://schemas.microsoft.com/office/drawing/2014/main" id="{985CC3B1-C414-D82D-F0D4-CB4CE515B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787" y="5221896"/>
            <a:ext cx="416357" cy="413009"/>
          </a:xfrm>
          <a:prstGeom prst="rect">
            <a:avLst/>
          </a:prstGeom>
        </p:spPr>
      </p:pic>
      <p:pic>
        <p:nvPicPr>
          <p:cNvPr id="49" name="Image 4" descr="tech_google_1B3A4B.png">
            <a:extLst>
              <a:ext uri="{FF2B5EF4-FFF2-40B4-BE49-F238E27FC236}">
                <a16:creationId xmlns:a16="http://schemas.microsoft.com/office/drawing/2014/main" id="{6ABB537B-EC38-0585-A0B4-539E307D1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6839" y="5221473"/>
            <a:ext cx="388651" cy="413010"/>
          </a:xfrm>
          <a:prstGeom prst="rect">
            <a:avLst/>
          </a:prstGeom>
        </p:spPr>
      </p:pic>
      <p:sp>
        <p:nvSpPr>
          <p:cNvPr id="54" name="Shape 24">
            <a:extLst>
              <a:ext uri="{FF2B5EF4-FFF2-40B4-BE49-F238E27FC236}">
                <a16:creationId xmlns:a16="http://schemas.microsoft.com/office/drawing/2014/main" id="{AE725AE9-45A0-C395-BDC7-0A44E3BC09FA}"/>
              </a:ext>
            </a:extLst>
          </p:cNvPr>
          <p:cNvSpPr/>
          <p:nvPr/>
        </p:nvSpPr>
        <p:spPr>
          <a:xfrm>
            <a:off x="5095685" y="5151550"/>
            <a:ext cx="1179538" cy="687971"/>
          </a:xfrm>
          <a:prstGeom prst="roundRect">
            <a:avLst>
              <a:gd name="adj" fmla="val 16000"/>
            </a:avLst>
          </a:prstGeom>
          <a:solidFill>
            <a:srgbClr val="F3F1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5" name="Image 1" descr="tech_swift_1B3A4B.png">
            <a:extLst>
              <a:ext uri="{FF2B5EF4-FFF2-40B4-BE49-F238E27FC236}">
                <a16:creationId xmlns:a16="http://schemas.microsoft.com/office/drawing/2014/main" id="{CFCD3BCC-21AC-AC92-74D4-15D78A1EE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2658" y="5224408"/>
            <a:ext cx="497074" cy="493077"/>
          </a:xfrm>
          <a:prstGeom prst="rect">
            <a:avLst/>
          </a:prstGeom>
        </p:spPr>
      </p:pic>
      <p:sp>
        <p:nvSpPr>
          <p:cNvPr id="56" name="Shape 32">
            <a:extLst>
              <a:ext uri="{FF2B5EF4-FFF2-40B4-BE49-F238E27FC236}">
                <a16:creationId xmlns:a16="http://schemas.microsoft.com/office/drawing/2014/main" id="{58FEDDBA-8672-A381-FCC1-590C9A8D0F07}"/>
              </a:ext>
            </a:extLst>
          </p:cNvPr>
          <p:cNvSpPr/>
          <p:nvPr/>
        </p:nvSpPr>
        <p:spPr>
          <a:xfrm>
            <a:off x="8238472" y="5131260"/>
            <a:ext cx="571320" cy="687971"/>
          </a:xfrm>
          <a:prstGeom prst="roundRect">
            <a:avLst>
              <a:gd name="adj" fmla="val 16000"/>
            </a:avLst>
          </a:prstGeom>
          <a:solidFill>
            <a:srgbClr val="F3F1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7" name="Image 3" descr="tech_supabase_1B3A4B.png">
            <a:extLst>
              <a:ext uri="{FF2B5EF4-FFF2-40B4-BE49-F238E27FC236}">
                <a16:creationId xmlns:a16="http://schemas.microsoft.com/office/drawing/2014/main" id="{7C3AFB4F-D7E5-9B31-26AE-1F306C777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013" y="5237214"/>
            <a:ext cx="266653" cy="413009"/>
          </a:xfrm>
          <a:prstGeom prst="rect">
            <a:avLst/>
          </a:prstGeom>
        </p:spPr>
      </p:pic>
      <p:sp>
        <p:nvSpPr>
          <p:cNvPr id="60" name="Shape 44">
            <a:extLst>
              <a:ext uri="{FF2B5EF4-FFF2-40B4-BE49-F238E27FC236}">
                <a16:creationId xmlns:a16="http://schemas.microsoft.com/office/drawing/2014/main" id="{D2FE0B08-A7C4-0358-C847-CDC1DF91924F}"/>
              </a:ext>
            </a:extLst>
          </p:cNvPr>
          <p:cNvSpPr/>
          <p:nvPr/>
        </p:nvSpPr>
        <p:spPr>
          <a:xfrm>
            <a:off x="10856390" y="5131260"/>
            <a:ext cx="570801" cy="687971"/>
          </a:xfrm>
          <a:prstGeom prst="roundRect">
            <a:avLst>
              <a:gd name="adj" fmla="val 16000"/>
            </a:avLst>
          </a:prstGeom>
          <a:solidFill>
            <a:srgbClr val="F3F1E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1" name="Image 6" descr="tech_git_1B3A4B.png">
            <a:extLst>
              <a:ext uri="{FF2B5EF4-FFF2-40B4-BE49-F238E27FC236}">
                <a16:creationId xmlns:a16="http://schemas.microsoft.com/office/drawing/2014/main" id="{1FA8CB44-8AD2-459A-9DCF-03BE7BEEC1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7829" y="5236356"/>
            <a:ext cx="388651" cy="413010"/>
          </a:xfrm>
          <a:prstGeom prst="rect">
            <a:avLst/>
          </a:prstGeom>
        </p:spPr>
      </p:pic>
      <p:sp>
        <p:nvSpPr>
          <p:cNvPr id="63" name="Text 34">
            <a:extLst>
              <a:ext uri="{FF2B5EF4-FFF2-40B4-BE49-F238E27FC236}">
                <a16:creationId xmlns:a16="http://schemas.microsoft.com/office/drawing/2014/main" id="{0D62CE66-C704-E803-876F-E016C652487C}"/>
              </a:ext>
            </a:extLst>
          </p:cNvPr>
          <p:cNvSpPr/>
          <p:nvPr/>
        </p:nvSpPr>
        <p:spPr>
          <a:xfrm>
            <a:off x="5859908" y="6072967"/>
            <a:ext cx="13732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000" b="1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9545B501-05AB-D770-A3A1-E188659A82E8}"/>
              </a:ext>
            </a:extLst>
          </p:cNvPr>
          <p:cNvSpPr/>
          <p:nvPr/>
        </p:nvSpPr>
        <p:spPr>
          <a:xfrm>
            <a:off x="380668" y="1277545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E358838-59B1-B02A-685F-85F743C58F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2029" y="5214620"/>
            <a:ext cx="497074" cy="49307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2C070E9-E988-3601-1FE7-80FC7F9DBD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flipH="1">
            <a:off x="7305183" y="5176560"/>
            <a:ext cx="503329" cy="499283"/>
          </a:xfrm>
          <a:prstGeom prst="rect">
            <a:avLst/>
          </a:prstGeom>
        </p:spPr>
      </p:pic>
      <p:sp>
        <p:nvSpPr>
          <p:cNvPr id="21" name="Shape 23">
            <a:extLst>
              <a:ext uri="{FF2B5EF4-FFF2-40B4-BE49-F238E27FC236}">
                <a16:creationId xmlns:a16="http://schemas.microsoft.com/office/drawing/2014/main" id="{F0746AAB-C279-3AD1-52E5-28012A801027}"/>
              </a:ext>
            </a:extLst>
          </p:cNvPr>
          <p:cNvSpPr/>
          <p:nvPr/>
        </p:nvSpPr>
        <p:spPr>
          <a:xfrm>
            <a:off x="147871" y="3104432"/>
            <a:ext cx="1405514" cy="133804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Autenticación.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Perfil de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Inicio de sesión.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Edición de perfil.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A823778-8F40-8B09-0FBD-FEF7C4B50915}"/>
              </a:ext>
            </a:extLst>
          </p:cNvPr>
          <p:cNvSpPr/>
          <p:nvPr/>
        </p:nvSpPr>
        <p:spPr>
          <a:xfrm>
            <a:off x="1895715" y="3113687"/>
            <a:ext cx="1405514" cy="1338044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Búsqueda de libros.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Google Books API.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Detalle del libro.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Biblioteca personal.</a:t>
            </a:r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A0F2E46-6D95-3B62-CE93-685D4E1AE247}"/>
              </a:ext>
            </a:extLst>
          </p:cNvPr>
          <p:cNvSpPr/>
          <p:nvPr/>
        </p:nvSpPr>
        <p:spPr>
          <a:xfrm>
            <a:off x="3573582" y="3080922"/>
            <a:ext cx="1405514" cy="133804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Progreso de lectura.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Porcentaje automático.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Continuar leyendo.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Calendario de lectura.</a:t>
            </a:r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D6EE0781-AB53-8B00-AB73-0633D2F3C779}"/>
              </a:ext>
            </a:extLst>
          </p:cNvPr>
          <p:cNvSpPr/>
          <p:nvPr/>
        </p:nvSpPr>
        <p:spPr>
          <a:xfrm>
            <a:off x="5301508" y="3080922"/>
            <a:ext cx="1405514" cy="133804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Citas manuales.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OCR con fotografía.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Edición de texto reconocido.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00" dirty="0">
                <a:latin typeface="Cambria" panose="02040503050406030204" pitchFamily="18" charset="0"/>
                <a:ea typeface="Cambria" panose="02040503050406030204" pitchFamily="18" charset="0"/>
              </a:rPr>
              <a:t>Gestión de citas.</a:t>
            </a: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D8F525A4-E666-B93E-8723-6193B28B9E31}"/>
              </a:ext>
            </a:extLst>
          </p:cNvPr>
          <p:cNvSpPr/>
          <p:nvPr/>
        </p:nvSpPr>
        <p:spPr>
          <a:xfrm>
            <a:off x="7081714" y="3063157"/>
            <a:ext cx="1405514" cy="135581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Imagen de cita.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Share </a:t>
            </a:r>
            <a:r>
              <a:rPr lang="es-CL" sz="1050" dirty="0" err="1">
                <a:latin typeface="Cambria" panose="02040503050406030204" pitchFamily="18" charset="0"/>
                <a:ea typeface="Cambria" panose="02040503050406030204" pitchFamily="18" charset="0"/>
              </a:rPr>
              <a:t>Sheet</a:t>
            </a: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Compartir en redes sociales.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Notificaciones.</a:t>
            </a: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E24E3E0C-06C2-0016-ACC7-33D96EDE5583}"/>
              </a:ext>
            </a:extLst>
          </p:cNvPr>
          <p:cNvSpPr/>
          <p:nvPr/>
        </p:nvSpPr>
        <p:spPr>
          <a:xfrm>
            <a:off x="8809640" y="3050569"/>
            <a:ext cx="1405514" cy="13558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Home.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Resumen de lectura.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Descubrir libros.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Integración general.</a:t>
            </a:r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3380A125-9AEC-506B-7923-BF59C2A81970}"/>
              </a:ext>
            </a:extLst>
          </p:cNvPr>
          <p:cNvSpPr/>
          <p:nvPr/>
        </p:nvSpPr>
        <p:spPr>
          <a:xfrm>
            <a:off x="10496013" y="3050569"/>
            <a:ext cx="1405514" cy="135580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E4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Ajustes finales.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Evidencias.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Informe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050" dirty="0">
                <a:latin typeface="Cambria" panose="02040503050406030204" pitchFamily="18" charset="0"/>
                <a:ea typeface="Cambria" panose="02040503050406030204" pitchFamily="18" charset="0"/>
              </a:rPr>
              <a:t>Presentación final.</a:t>
            </a:r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90E737DC-501A-1F68-8865-3ED62CA5CA5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4989" b="39174"/>
          <a:stretch>
            <a:fillRect/>
          </a:stretch>
        </p:blipFill>
        <p:spPr>
          <a:xfrm>
            <a:off x="6478" y="1405164"/>
            <a:ext cx="12185522" cy="1763390"/>
          </a:xfrm>
          <a:prstGeom prst="rect">
            <a:avLst/>
          </a:prstGeom>
        </p:spPr>
      </p:pic>
      <p:sp>
        <p:nvSpPr>
          <p:cNvPr id="78" name="CuadroTexto 77">
            <a:extLst>
              <a:ext uri="{FF2B5EF4-FFF2-40B4-BE49-F238E27FC236}">
                <a16:creationId xmlns:a16="http://schemas.microsoft.com/office/drawing/2014/main" id="{A7C42875-5543-B8BA-D7A8-C1A442DDFAA8}"/>
              </a:ext>
            </a:extLst>
          </p:cNvPr>
          <p:cNvSpPr txBox="1"/>
          <p:nvPr/>
        </p:nvSpPr>
        <p:spPr>
          <a:xfrm>
            <a:off x="3965488" y="1624018"/>
            <a:ext cx="2672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Pruebas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y </a:t>
            </a:r>
            <a:r>
              <a:rPr lang="en-US" sz="1400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validación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continua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95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6802-045C-D668-E783-48A20E99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772D76F6-E934-D97B-3C08-FB22379FF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6FEC55D2-CC1F-3F67-ED53-0F551A5F1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369266"/>
            <a:ext cx="3316582" cy="650557"/>
          </a:xfrm>
        </p:spPr>
        <p:txBody>
          <a:bodyPr>
            <a:noAutofit/>
          </a:bodyPr>
          <a:lstStyle/>
          <a:p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Tablero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Trello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7FC7B36E-2C27-0134-D8E4-BEE1F0746511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E67518-D7CB-9078-9430-4D710C05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66472"/>
            <a:ext cx="11000232" cy="3925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93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A173-BF65-6CB2-922B-ED5A95C3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409F3D69-E935-833F-4890-EFDFC7CF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02D07D4E-32B9-CEAC-A8C8-4DA690908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4695" y="402979"/>
            <a:ext cx="5500389" cy="65055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Modelo</a:t>
            </a:r>
            <a:r>
              <a:rPr lang="en-US" sz="3200" b="1" dirty="0">
                <a:solidFill>
                  <a:srgbClr val="173947"/>
                </a:solidFill>
                <a:latin typeface="Calibri" panose="020F0502020204030204" pitchFamily="34" charset="0"/>
                <a:ea typeface="Aptos Display" pitchFamily="34" charset="-122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Entidad</a:t>
            </a:r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Relación</a:t>
            </a:r>
            <a:endParaRPr lang="en-US" sz="3000" b="1" dirty="0">
              <a:solidFill>
                <a:srgbClr val="173947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C725D90-997C-D7D7-1DED-69819D323C18}"/>
              </a:ext>
            </a:extLst>
          </p:cNvPr>
          <p:cNvSpPr/>
          <p:nvPr/>
        </p:nvSpPr>
        <p:spPr>
          <a:xfrm>
            <a:off x="411480" y="987552"/>
            <a:ext cx="11109960" cy="0"/>
          </a:xfrm>
          <a:prstGeom prst="line">
            <a:avLst/>
          </a:prstGeom>
          <a:noFill/>
          <a:ln w="12700">
            <a:solidFill>
              <a:srgbClr val="E7E0D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FA72624-72ED-DF6D-2D5D-9DD8DA7A8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" y="1053536"/>
            <a:ext cx="10518458" cy="575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3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1DC0-E90F-80C2-26A1-99BC112B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hilo_pptx_unzipped/ppt/media/image1.png">
            <a:extLst>
              <a:ext uri="{FF2B5EF4-FFF2-40B4-BE49-F238E27FC236}">
                <a16:creationId xmlns:a16="http://schemas.microsoft.com/office/drawing/2014/main" id="{B8594BB3-7770-C7DF-7DED-7A6C8A530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079" y="335509"/>
            <a:ext cx="1677839" cy="375602"/>
          </a:xfrm>
          <a:prstGeom prst="rect">
            <a:avLst/>
          </a:prstGeom>
        </p:spPr>
      </p:pic>
      <p:sp>
        <p:nvSpPr>
          <p:cNvPr id="8" name="Título 7">
            <a:extLst>
              <a:ext uri="{FF2B5EF4-FFF2-40B4-BE49-F238E27FC236}">
                <a16:creationId xmlns:a16="http://schemas.microsoft.com/office/drawing/2014/main" id="{1A1AC73C-DDB9-97E1-DBC1-06D3C6F24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6387" y="1391641"/>
            <a:ext cx="6939225" cy="65055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17394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Gracias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A6BF7588-EE24-39F3-6CD1-8C0F9E6301C7}"/>
              </a:ext>
            </a:extLst>
          </p:cNvPr>
          <p:cNvSpPr/>
          <p:nvPr/>
        </p:nvSpPr>
        <p:spPr>
          <a:xfrm>
            <a:off x="838199" y="204219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68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Hilo · Definición del Proyecto APT — Fase 1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688CC2-9CD9-215F-58F5-CD07A7F7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064" y="2692755"/>
            <a:ext cx="3240024" cy="324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33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3014</TotalTime>
  <Words>664</Words>
  <Application>Microsoft Office PowerPoint</Application>
  <PresentationFormat>Panorámica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Cambria</vt:lpstr>
      <vt:lpstr>Tema de Office</vt:lpstr>
      <vt:lpstr>Hilo</vt:lpstr>
      <vt:lpstr>Problema detectado</vt:lpstr>
      <vt:lpstr>Solución propuesta</vt:lpstr>
      <vt:lpstr>Validación de idea y hábitos de lectura</vt:lpstr>
      <vt:lpstr>Funcionalidades más valoradas</vt:lpstr>
      <vt:lpstr>Análisis de Alternativas de Mercado</vt:lpstr>
      <vt:lpstr>Objetivo, alcance y limitaciones del proyecto</vt:lpstr>
      <vt:lpstr>Metodología y tecnologías</vt:lpstr>
      <vt:lpstr>Tablero Trello</vt:lpstr>
      <vt:lpstr>Modelo Entidad Relación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YHONNEIDER . VIVAS MOLINA</dc:creator>
  <cp:lastModifiedBy>DAYANA . HOYOS RIASCOS</cp:lastModifiedBy>
  <cp:revision>11</cp:revision>
  <dcterms:created xsi:type="dcterms:W3CDTF">2026-08-25T01:14:05Z</dcterms:created>
  <dcterms:modified xsi:type="dcterms:W3CDTF">2026-08-29T20:27:32Z</dcterms:modified>
</cp:coreProperties>
</file>